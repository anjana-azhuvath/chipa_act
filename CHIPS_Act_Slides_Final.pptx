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  <p:embeddedFont>
      <p:font typeface="Inter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BE0B8A-A2F5-41BE-ACA7-0FEC5C3F13C9}">
  <a:tblStyle styleId="{29BE0B8A-A2F5-41BE-ACA7-0FEC5C3F13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917FDE7E-CB48-42A3-820B-FC3515AF16B1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5.xml"/><Relationship Id="rId33" Type="http://schemas.openxmlformats.org/officeDocument/2006/relationships/font" Target="fonts/Inter-italic.fntdata"/><Relationship Id="rId10" Type="http://schemas.openxmlformats.org/officeDocument/2006/relationships/slide" Target="slides/slide4.xml"/><Relationship Id="rId32" Type="http://schemas.openxmlformats.org/officeDocument/2006/relationships/font" Target="fonts/Inter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Inter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176d53a15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176d53a15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76d53a15e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176d53a15e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176d53a15e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176d53a15e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53b9a9ac3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153b9a9ac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176d53a15e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176d53a15e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Data Source:</a:t>
            </a:r>
            <a:r>
              <a:rPr lang="en"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Semiconductor Industry Association (CHIPS Act grants)</a:t>
            </a:r>
            <a:endParaRPr sz="10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Exclusions:</a:t>
            </a:r>
            <a:r>
              <a:rPr lang="en"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Non-US-listed companies removed</a:t>
            </a:r>
            <a:endParaRPr sz="10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Sample: </a:t>
            </a:r>
            <a:r>
              <a:rPr lang="en"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11 US-listed semiconductor companies</a:t>
            </a:r>
            <a:endParaRPr sz="10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Data Collected: </a:t>
            </a:r>
            <a:r>
              <a:rPr lang="en"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Daily closing prices (245 days pre- to 5 days post-announcement) via NASDAQ</a:t>
            </a:r>
            <a:endParaRPr sz="10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Market Cap Defined: </a:t>
            </a:r>
            <a:r>
              <a:rPr lang="en"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Micro, Midsize, Large, Mega</a:t>
            </a:r>
            <a:endParaRPr sz="10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Impact Analysis: </a:t>
            </a:r>
            <a:r>
              <a:rPr lang="en"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CHIPS Act effects across cap groups</a:t>
            </a:r>
            <a:endParaRPr sz="10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Market Proxy:</a:t>
            </a:r>
            <a:r>
              <a:rPr lang="en"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PHLX Semiconductor Index (due to 2024 CRSP data gap)</a:t>
            </a:r>
            <a:endParaRPr sz="1000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Summary Stats:</a:t>
            </a:r>
            <a:r>
              <a:rPr lang="en" sz="1000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 Basic analysis for 250-day event window</a:t>
            </a:r>
            <a:endParaRPr sz="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176d53a15e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176d53a15e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176d53a15e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176d53a15e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176d53a15e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176d53a15e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176d53a15e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176d53a15e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176d53a15e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176d53a15e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153b9a9ac3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153b9a9ac3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Alpha: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HP, Intel,TI positive and statistically insignificant alpha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WS,MT, GF significant negative daily returns on average, assuming market market return to be zero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WS largest beta: most volatile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HP and TI least volatile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153b9a9ac3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153b9a9ac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Alpha: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Ak significant negative avg return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Beta: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less than zero and significant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15d911c68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15d911c68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176d53a15e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176d53a15e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Wolfspeed</a:t>
            </a:r>
            <a:r>
              <a:rPr lang="en"/>
              <a:t>, PP [ large post announcement trend] Also large ratio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TSMC </a:t>
            </a:r>
            <a:r>
              <a:rPr lang="en"/>
              <a:t>positive</a:t>
            </a:r>
            <a:r>
              <a:rPr lang="en"/>
              <a:t> despite small ratio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AMK negative despite a sizable incentive-size ratio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 other company return appears to be stable post announcement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152169109d_0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152169109d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Excluding our mid cap, all companies avg. returns were statistically significant at 5%. We can reject the null hypothesis of mean CAR= 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Negative CAR: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TI-GF-MT-AMK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AMK: lowest CAR: insignificant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wf-TSMC-PP </a:t>
            </a:r>
            <a:r>
              <a:rPr lang="en"/>
              <a:t>positive</a:t>
            </a:r>
            <a:r>
              <a:rPr lang="en"/>
              <a:t> CAR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152169109d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152169109d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152169109d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152169109d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14a6999aa8_1_4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14a6999aa8_1_4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52169109d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52169109d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doi.org/10.1007/s11127-024-01158-0" TargetMode="External"/><Relationship Id="rId4" Type="http://schemas.openxmlformats.org/officeDocument/2006/relationships/hyperlink" Target="https://doi.org/10.1016/j.habitatint.2014.05.011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23848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Impact of the CHIPS Act on Stock Returns for Semiconductor Developers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33255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Nameera Ali, Anjana Azhuvath, and Kenny Evans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3999"/>
              <a:t>INTRODUCTION</a:t>
            </a:r>
            <a:endParaRPr/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600">
                <a:solidFill>
                  <a:srgbClr val="504C44"/>
                </a:solidFill>
              </a:rPr>
              <a:t>Creating Helpful Incentives to Produce Semiconductors (CHIPS) for America Act</a:t>
            </a:r>
            <a:endParaRPr sz="1600">
              <a:solidFill>
                <a:srgbClr val="504C44"/>
              </a:solidFill>
            </a:endParaRPr>
          </a:p>
          <a:p>
            <a:pPr indent="-243903" lvl="1" marL="690877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504C44"/>
              </a:buClr>
              <a:buSzPts val="1600"/>
              <a:buFont typeface="Roboto"/>
              <a:buChar char="•"/>
            </a:pPr>
            <a:r>
              <a:rPr lang="en" sz="1600">
                <a:solidFill>
                  <a:srgbClr val="504C44"/>
                </a:solidFill>
              </a:rPr>
              <a:t>Passed on August 9th, 2022</a:t>
            </a:r>
            <a:endParaRPr sz="1600">
              <a:solidFill>
                <a:srgbClr val="000000"/>
              </a:solidFill>
            </a:endParaRPr>
          </a:p>
          <a:p>
            <a:pPr indent="-243903" lvl="1" marL="690877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504C44"/>
              </a:buClr>
              <a:buSzPts val="1600"/>
              <a:buFont typeface="Roboto"/>
              <a:buChar char="•"/>
            </a:pPr>
            <a:r>
              <a:rPr lang="en" sz="1600">
                <a:solidFill>
                  <a:srgbClr val="504C44"/>
                </a:solidFill>
              </a:rPr>
              <a:t>Aims to incentivize greater U.S. production of semiconductors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600">
              <a:solidFill>
                <a:srgbClr val="504C44"/>
              </a:solidFill>
            </a:endParaRPr>
          </a:p>
          <a:p>
            <a:pPr indent="0" lvl="0" marL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600">
                <a:solidFill>
                  <a:srgbClr val="504C44"/>
                </a:solidFill>
              </a:rPr>
              <a:t>Objective Statement</a:t>
            </a:r>
            <a:endParaRPr sz="1600">
              <a:solidFill>
                <a:srgbClr val="504C44"/>
              </a:solidFill>
            </a:endParaRPr>
          </a:p>
          <a:p>
            <a:pPr indent="-243903" lvl="1" marL="690877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504C44"/>
              </a:buClr>
              <a:buSzPts val="1600"/>
              <a:buFont typeface="Roboto"/>
              <a:buChar char="•"/>
            </a:pPr>
            <a:r>
              <a:rPr lang="en" sz="1600">
                <a:solidFill>
                  <a:srgbClr val="504C44"/>
                </a:solidFill>
              </a:rPr>
              <a:t>To assess immediate impact of CHIPS Act on companies’ stock prices</a:t>
            </a:r>
            <a:endParaRPr sz="1600">
              <a:solidFill>
                <a:srgbClr val="000000"/>
              </a:solidFill>
            </a:endParaRPr>
          </a:p>
          <a:p>
            <a:pPr indent="-243903" lvl="1" marL="690877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504C44"/>
              </a:buClr>
              <a:buSzPts val="1600"/>
              <a:buFont typeface="Roboto"/>
              <a:buChar char="•"/>
            </a:pPr>
            <a:r>
              <a:rPr lang="en" sz="1600">
                <a:solidFill>
                  <a:srgbClr val="504C44"/>
                </a:solidFill>
              </a:rPr>
              <a:t>To determine which companies benefit most from CHIPS Act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400">
              <a:solidFill>
                <a:srgbClr val="504C44"/>
              </a:solidFill>
            </a:endParaRPr>
          </a:p>
          <a:p>
            <a:pPr indent="0" lvl="0" marL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400">
              <a:solidFill>
                <a:srgbClr val="504C4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3550"/>
              <a:t>RESEARCH QUESTIONS</a:t>
            </a:r>
            <a:endParaRPr b="1" sz="3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6123" lvl="1" marL="604518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504C44"/>
              </a:buClr>
              <a:buSzPts val="1600"/>
              <a:buFont typeface="Roboto"/>
              <a:buChar char="•"/>
            </a:pPr>
            <a:r>
              <a:rPr lang="en" sz="1600">
                <a:solidFill>
                  <a:srgbClr val="504C44"/>
                </a:solidFill>
              </a:rPr>
              <a:t>How do stock market prices react to CHIPS Act grants?</a:t>
            </a:r>
            <a:endParaRPr sz="1600">
              <a:solidFill>
                <a:srgbClr val="000000"/>
              </a:solidFill>
            </a:endParaRPr>
          </a:p>
          <a:p>
            <a:pPr indent="-226123" lvl="1" marL="604518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504C44"/>
              </a:buClr>
              <a:buSzPts val="1600"/>
              <a:buFont typeface="Roboto"/>
              <a:buChar char="•"/>
            </a:pPr>
            <a:r>
              <a:rPr lang="en" sz="1600">
                <a:solidFill>
                  <a:srgbClr val="504C44"/>
                </a:solidFill>
              </a:rPr>
              <a:t>Do pre-grant stock trends change after announcement?</a:t>
            </a:r>
            <a:endParaRPr sz="1600">
              <a:solidFill>
                <a:srgbClr val="000000"/>
              </a:solidFill>
            </a:endParaRPr>
          </a:p>
          <a:p>
            <a:pPr indent="-226123" lvl="1" marL="604518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504C44"/>
              </a:buClr>
              <a:buSzPts val="1600"/>
              <a:buFont typeface="Roboto"/>
              <a:buChar char="•"/>
            </a:pPr>
            <a:r>
              <a:rPr lang="en" sz="1600">
                <a:solidFill>
                  <a:srgbClr val="504C44"/>
                </a:solidFill>
              </a:rPr>
              <a:t>Does CHIPS Act help larger or smaller companies more?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just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600">
              <a:solidFill>
                <a:srgbClr val="504C44"/>
              </a:solidFill>
            </a:endParaRPr>
          </a:p>
          <a:p>
            <a:pPr indent="0" lvl="0" marL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600">
                <a:solidFill>
                  <a:srgbClr val="504C44"/>
                </a:solidFill>
              </a:rPr>
              <a:t> 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140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600">
                <a:solidFill>
                  <a:srgbClr val="504C44"/>
                </a:solidFill>
              </a:rPr>
              <a:t>Hypothesis: Grants from the CHIPS Act will positively affect company stock Returns, particularly for smaller companies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ctr">
              <a:lnSpc>
                <a:spcPct val="2007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600">
              <a:solidFill>
                <a:srgbClr val="504C4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3999"/>
              <a:t>LITERATURE REVIEW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Dixon and Nassios (2018)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Subsidies increase domestic and foreign investment in an industry</a:t>
            </a:r>
            <a:endParaRPr sz="16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Criscuolo et al. (2019)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Subsidies help companies and region, benefit small companies more than large</a:t>
            </a:r>
            <a:endParaRPr sz="16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Chen et al. (2020)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Information asymmetry hurts </a:t>
            </a:r>
            <a:r>
              <a:rPr lang="en" sz="1600"/>
              <a:t>subsidies usefulness,</a:t>
            </a:r>
            <a:r>
              <a:rPr lang="en" sz="1600"/>
              <a:t> small companies benefit more</a:t>
            </a:r>
            <a:endParaRPr sz="16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Veronesi and Pastor (2012)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Stock prices drop when new policies are introduced, reaction to uncertainty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>
            <p:ph type="title"/>
          </p:nvPr>
        </p:nvSpPr>
        <p:spPr>
          <a:xfrm>
            <a:off x="6776350" y="186275"/>
            <a:ext cx="2367600" cy="56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900"/>
              <a:t>Incentive</a:t>
            </a:r>
            <a:r>
              <a:rPr b="1" lang="en"/>
              <a:t> </a:t>
            </a:r>
            <a:r>
              <a:rPr b="1" lang="en" sz="3900"/>
              <a:t>Recipients</a:t>
            </a:r>
            <a:endParaRPr b="1" sz="3900"/>
          </a:p>
        </p:txBody>
      </p:sp>
      <p:sp>
        <p:nvSpPr>
          <p:cNvPr id="110" name="Google Shape;110;p17"/>
          <p:cNvSpPr txBox="1"/>
          <p:nvPr>
            <p:ph type="title"/>
          </p:nvPr>
        </p:nvSpPr>
        <p:spPr>
          <a:xfrm>
            <a:off x="404300" y="4683450"/>
            <a:ext cx="7377600" cy="3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i="1" lang="en" sz="999">
                <a:solidFill>
                  <a:srgbClr val="504C44"/>
                </a:solidFill>
              </a:rPr>
              <a:t>Source: Data retrieved from Semiconductor Industry Association and Nasdaq, Visualized on Tableau</a:t>
            </a:r>
            <a:endParaRPr i="1" sz="100"/>
          </a:p>
        </p:txBody>
      </p:sp>
      <p:grpSp>
        <p:nvGrpSpPr>
          <p:cNvPr id="111" name="Google Shape;111;p17"/>
          <p:cNvGrpSpPr/>
          <p:nvPr/>
        </p:nvGrpSpPr>
        <p:grpSpPr>
          <a:xfrm>
            <a:off x="116525" y="186275"/>
            <a:ext cx="6659824" cy="4588676"/>
            <a:chOff x="116525" y="186275"/>
            <a:chExt cx="6659824" cy="4588676"/>
          </a:xfrm>
        </p:grpSpPr>
        <p:pic>
          <p:nvPicPr>
            <p:cNvPr id="112" name="Google Shape;112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16525" y="186275"/>
              <a:ext cx="6659824" cy="45886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1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269725" y="2449625"/>
              <a:ext cx="2437350" cy="21643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24675"/>
            <a:ext cx="3956198" cy="2910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8"/>
          <p:cNvPicPr preferRelativeResize="0"/>
          <p:nvPr/>
        </p:nvPicPr>
        <p:blipFill rotWithShape="1">
          <a:blip r:embed="rId4">
            <a:alphaModFix/>
          </a:blip>
          <a:srcRect b="0" l="0" r="0" t="4122"/>
          <a:stretch/>
        </p:blipFill>
        <p:spPr>
          <a:xfrm>
            <a:off x="4684075" y="1444650"/>
            <a:ext cx="4148224" cy="2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8"/>
          <p:cNvSpPr txBox="1"/>
          <p:nvPr>
            <p:ph idx="4294967295" type="title"/>
          </p:nvPr>
        </p:nvSpPr>
        <p:spPr>
          <a:xfrm>
            <a:off x="559550" y="4372975"/>
            <a:ext cx="7377600" cy="3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i="1" lang="en" sz="999">
                <a:solidFill>
                  <a:srgbClr val="504C44"/>
                </a:solidFill>
              </a:rPr>
              <a:t>Source: Data retrieved from Nasdaq, Visualized on R</a:t>
            </a:r>
            <a:endParaRPr i="1" sz="100"/>
          </a:p>
        </p:txBody>
      </p:sp>
      <p:sp>
        <p:nvSpPr>
          <p:cNvPr id="121" name="Google Shape;121;p18"/>
          <p:cNvSpPr txBox="1"/>
          <p:nvPr>
            <p:ph idx="4294967295" type="title"/>
          </p:nvPr>
        </p:nvSpPr>
        <p:spPr>
          <a:xfrm>
            <a:off x="311700" y="949100"/>
            <a:ext cx="8298900" cy="3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1299">
                <a:solidFill>
                  <a:srgbClr val="504C44"/>
                </a:solidFill>
              </a:rPr>
              <a:t>Figure: Plots Representing the PHLX Closing Prices and Returns through Event Announcements</a:t>
            </a:r>
            <a:endParaRPr sz="100"/>
          </a:p>
        </p:txBody>
      </p:sp>
      <p:sp>
        <p:nvSpPr>
          <p:cNvPr id="122" name="Google Shape;122;p18"/>
          <p:cNvSpPr txBox="1"/>
          <p:nvPr>
            <p:ph idx="4294967295" type="title"/>
          </p:nvPr>
        </p:nvSpPr>
        <p:spPr>
          <a:xfrm>
            <a:off x="311700" y="1728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50"/>
              <a:t>PHLX</a:t>
            </a:r>
            <a:endParaRPr b="1" sz="35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3999"/>
              <a:t>METHODOLOGY</a:t>
            </a:r>
            <a:endParaRPr/>
          </a:p>
        </p:txBody>
      </p:sp>
      <p:sp>
        <p:nvSpPr>
          <p:cNvPr id="128" name="Google Shape;128;p19"/>
          <p:cNvSpPr txBox="1"/>
          <p:nvPr>
            <p:ph idx="1" type="body"/>
          </p:nvPr>
        </p:nvSpPr>
        <p:spPr>
          <a:xfrm>
            <a:off x="311700" y="1229875"/>
            <a:ext cx="8520600" cy="36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37">
                <a:solidFill>
                  <a:srgbClr val="504C44"/>
                </a:solidFill>
              </a:rPr>
              <a:t>Event Definition</a:t>
            </a:r>
            <a:endParaRPr>
              <a:solidFill>
                <a:srgbClr val="000000"/>
              </a:solidFill>
            </a:endParaRPr>
          </a:p>
          <a:p>
            <a:pPr indent="-209568" lvl="1" marL="483058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504C44"/>
              </a:buClr>
              <a:buSzPct val="100000"/>
              <a:buFont typeface="Roboto"/>
              <a:buChar char="•"/>
            </a:pPr>
            <a:r>
              <a:rPr lang="en" sz="2237">
                <a:solidFill>
                  <a:srgbClr val="504C44"/>
                </a:solidFill>
              </a:rPr>
              <a:t>The event is the grant announcement under the CHIPS Act.</a:t>
            </a:r>
            <a:endParaRPr>
              <a:solidFill>
                <a:srgbClr val="000000"/>
              </a:solidFill>
            </a:endParaRPr>
          </a:p>
          <a:p>
            <a:pPr indent="-209568" lvl="1" marL="483058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504C44"/>
              </a:buClr>
              <a:buSzPct val="100000"/>
              <a:buFont typeface="Roboto"/>
              <a:buChar char="•"/>
            </a:pPr>
            <a:r>
              <a:rPr lang="en" sz="2237">
                <a:solidFill>
                  <a:srgbClr val="504C44"/>
                </a:solidFill>
              </a:rPr>
              <a:t>This date is set as Day 0 in our event study timeline.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37">
              <a:solidFill>
                <a:srgbClr val="504C44"/>
              </a:solidFill>
            </a:endParaRPr>
          </a:p>
          <a:p>
            <a:pPr indent="0" lvl="0" marL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37">
                <a:solidFill>
                  <a:srgbClr val="504C44"/>
                </a:solidFill>
              </a:rPr>
              <a:t>The Estimation and Event Windows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37">
                <a:solidFill>
                  <a:srgbClr val="504C44"/>
                </a:solidFill>
              </a:rPr>
              <a:t>A 250-day event study window is created to analyze stock performance.</a:t>
            </a:r>
            <a:endParaRPr sz="1400">
              <a:solidFill>
                <a:srgbClr val="000000"/>
              </a:solidFill>
            </a:endParaRPr>
          </a:p>
          <a:p>
            <a:pPr indent="-290079" lvl="2" marL="966119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504C44"/>
              </a:buClr>
              <a:buSzPct val="100000"/>
              <a:buFont typeface="Roboto"/>
              <a:buChar char="⚬"/>
            </a:pPr>
            <a:r>
              <a:rPr lang="en" sz="2237">
                <a:solidFill>
                  <a:srgbClr val="504C44"/>
                </a:solidFill>
              </a:rPr>
              <a:t>Estimation Window: 239 days window (t=-244 through t=-6)</a:t>
            </a:r>
            <a:endParaRPr>
              <a:solidFill>
                <a:srgbClr val="000000"/>
              </a:solidFill>
            </a:endParaRPr>
          </a:p>
          <a:p>
            <a:pPr indent="-290079" lvl="2" marL="966119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504C44"/>
              </a:buClr>
              <a:buSzPct val="100000"/>
              <a:buFont typeface="Roboto"/>
              <a:buChar char="⚬"/>
            </a:pPr>
            <a:r>
              <a:rPr lang="en" sz="2237">
                <a:solidFill>
                  <a:srgbClr val="504C44"/>
                </a:solidFill>
              </a:rPr>
              <a:t>Event Window: 11 days window ( t= -5 through t= +5)</a:t>
            </a:r>
            <a:endParaRPr sz="2237">
              <a:solidFill>
                <a:srgbClr val="504C44"/>
              </a:solidFill>
            </a:endParaRPr>
          </a:p>
          <a:p>
            <a:pPr indent="0" lvl="0" marL="137160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37">
              <a:solidFill>
                <a:srgbClr val="504C44"/>
              </a:solidFill>
            </a:endParaRPr>
          </a:p>
          <a:p>
            <a:pPr indent="0" lvl="0" marL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37">
              <a:solidFill>
                <a:srgbClr val="504C44"/>
              </a:solidFill>
            </a:endParaRPr>
          </a:p>
          <a:p>
            <a:pPr indent="0" lvl="0" marL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3525" y="3890225"/>
            <a:ext cx="2798950" cy="100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Arial"/>
              <a:buNone/>
            </a:pPr>
            <a:r>
              <a:rPr b="1" lang="en" sz="3550"/>
              <a:t>METHODOLOGY</a:t>
            </a:r>
            <a:endParaRPr sz="3550"/>
          </a:p>
        </p:txBody>
      </p:sp>
      <p:sp>
        <p:nvSpPr>
          <p:cNvPr id="135" name="Google Shape;135;p20"/>
          <p:cNvSpPr txBox="1"/>
          <p:nvPr>
            <p:ph idx="1" type="body"/>
          </p:nvPr>
        </p:nvSpPr>
        <p:spPr>
          <a:xfrm>
            <a:off x="311700" y="1017800"/>
            <a:ext cx="8520600" cy="35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504C44"/>
                </a:solidFill>
              </a:rPr>
              <a:t>Test For Normality and Stationarity</a:t>
            </a:r>
            <a:endParaRPr sz="1200">
              <a:solidFill>
                <a:srgbClr val="000000"/>
              </a:solidFill>
            </a:endParaRPr>
          </a:p>
          <a:p>
            <a:pPr indent="-175680" lvl="1" marL="483058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504C44"/>
              </a:buClr>
              <a:buSzPts val="1200"/>
              <a:buFont typeface="Roboto"/>
              <a:buChar char="•"/>
            </a:pPr>
            <a:r>
              <a:rPr lang="en" sz="1200">
                <a:solidFill>
                  <a:srgbClr val="504C44"/>
                </a:solidFill>
              </a:rPr>
              <a:t>Shapiro-Wilks normality test</a:t>
            </a:r>
            <a:endParaRPr sz="1200">
              <a:solidFill>
                <a:srgbClr val="000000"/>
              </a:solidFill>
            </a:endParaRPr>
          </a:p>
          <a:p>
            <a:pPr indent="-175680" lvl="1" marL="483058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504C44"/>
              </a:buClr>
              <a:buSzPts val="1200"/>
              <a:buFont typeface="Roboto"/>
              <a:buChar char="•"/>
            </a:pPr>
            <a:r>
              <a:rPr lang="en" sz="1200">
                <a:solidFill>
                  <a:srgbClr val="504C44"/>
                </a:solidFill>
              </a:rPr>
              <a:t>Augmented Dickey-Fuller test</a:t>
            </a:r>
            <a:endParaRPr sz="1200">
              <a:solidFill>
                <a:srgbClr val="504C44"/>
              </a:solidFill>
            </a:endParaRPr>
          </a:p>
          <a:p>
            <a:pPr indent="0" lvl="0" marL="914400" rtl="0" algn="l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04C44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1200">
                <a:solidFill>
                  <a:srgbClr val="504C44"/>
                </a:solidFill>
              </a:rPr>
              <a:t>The OLS Market Model</a:t>
            </a:r>
            <a:endParaRPr sz="1200">
              <a:solidFill>
                <a:srgbClr val="000000"/>
              </a:solidFill>
            </a:endParaRPr>
          </a:p>
          <a:p>
            <a:pPr indent="-165100" lvl="1" marL="431801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04C44"/>
              </a:buClr>
              <a:buSzPts val="1200"/>
              <a:buFont typeface="Roboto"/>
              <a:buChar char="•"/>
            </a:pPr>
            <a:r>
              <a:rPr lang="en" sz="1200">
                <a:solidFill>
                  <a:srgbClr val="504C44"/>
                </a:solidFill>
              </a:rPr>
              <a:t>Ordinary Least Squares (OLS) regression model to compute two key parameters for Intel's stock:</a:t>
            </a:r>
            <a:endParaRPr sz="1200">
              <a:solidFill>
                <a:srgbClr val="000000"/>
              </a:solidFill>
            </a:endParaRPr>
          </a:p>
          <a:p>
            <a:pPr indent="-237067" lvl="2" marL="863601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04C44"/>
              </a:buClr>
              <a:buSzPts val="1200"/>
              <a:buFont typeface="Roboto"/>
              <a:buChar char="⚬"/>
            </a:pPr>
            <a:r>
              <a:rPr lang="en" sz="1200">
                <a:solidFill>
                  <a:srgbClr val="504C44"/>
                </a:solidFill>
              </a:rPr>
              <a:t>α (alpha): Average daily returns.</a:t>
            </a:r>
            <a:endParaRPr sz="1200">
              <a:solidFill>
                <a:srgbClr val="000000"/>
              </a:solidFill>
            </a:endParaRPr>
          </a:p>
          <a:p>
            <a:pPr indent="-237067" lvl="2" marL="863601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04C44"/>
              </a:buClr>
              <a:buSzPts val="1200"/>
              <a:buFont typeface="Roboto"/>
              <a:buChar char="⚬"/>
            </a:pPr>
            <a:r>
              <a:rPr lang="en" sz="1200">
                <a:solidFill>
                  <a:srgbClr val="504C44"/>
                </a:solidFill>
              </a:rPr>
              <a:t>β (beta): Systemic risk based on NASDAQ market performance.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04C44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200">
              <a:solidFill>
                <a:srgbClr val="504C44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1200">
                <a:solidFill>
                  <a:srgbClr val="504C44"/>
                </a:solidFill>
              </a:rPr>
              <a:t>Test statistics under the null hypothesis 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200">
                <a:solidFill>
                  <a:srgbClr val="504C44"/>
                </a:solidFill>
              </a:rPr>
              <a:t>Ho: The mean day ‘0’ i.e. t=0 excess return (e.g., the simple average of market model excess</a:t>
            </a:r>
            <a:endParaRPr sz="1200">
              <a:solidFill>
                <a:srgbClr val="504C44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" sz="1200">
                <a:solidFill>
                  <a:srgbClr val="504C44"/>
                </a:solidFill>
              </a:rPr>
              <a:t>returns) is equal to zero</a:t>
            </a:r>
            <a:endParaRPr sz="12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200">
              <a:solidFill>
                <a:srgbClr val="504C4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04C4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04C4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504C4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504C4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1724300" y="3220300"/>
            <a:ext cx="2847689" cy="267109"/>
          </a:xfrm>
          <a:custGeom>
            <a:rect b="b" l="l" r="r" t="t"/>
            <a:pathLst>
              <a:path extrusionOk="0" h="883004" w="9492296">
                <a:moveTo>
                  <a:pt x="0" y="0"/>
                </a:moveTo>
                <a:lnTo>
                  <a:pt x="9492296" y="0"/>
                </a:lnTo>
                <a:lnTo>
                  <a:pt x="9492296" y="883004"/>
                </a:lnTo>
                <a:lnTo>
                  <a:pt x="0" y="8830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20"/>
          <p:cNvSpPr/>
          <p:nvPr/>
        </p:nvSpPr>
        <p:spPr>
          <a:xfrm>
            <a:off x="4118101" y="4267000"/>
            <a:ext cx="907796" cy="267109"/>
          </a:xfrm>
          <a:custGeom>
            <a:rect b="b" l="l" r="r" t="t"/>
            <a:pathLst>
              <a:path extrusionOk="0" h="883004" w="2750898">
                <a:moveTo>
                  <a:pt x="0" y="0"/>
                </a:moveTo>
                <a:lnTo>
                  <a:pt x="2750898" y="0"/>
                </a:lnTo>
                <a:lnTo>
                  <a:pt x="2750898" y="883004"/>
                </a:lnTo>
                <a:lnTo>
                  <a:pt x="0" y="8830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8" name="Google Shape;138;p20"/>
          <p:cNvSpPr/>
          <p:nvPr/>
        </p:nvSpPr>
        <p:spPr>
          <a:xfrm>
            <a:off x="4081925" y="4534101"/>
            <a:ext cx="980135" cy="267109"/>
          </a:xfrm>
          <a:custGeom>
            <a:rect b="b" l="l" r="r" t="t"/>
            <a:pathLst>
              <a:path extrusionOk="0" h="883004" w="2649013">
                <a:moveTo>
                  <a:pt x="0" y="0"/>
                </a:moveTo>
                <a:lnTo>
                  <a:pt x="2649013" y="0"/>
                </a:lnTo>
                <a:lnTo>
                  <a:pt x="2649013" y="883004"/>
                </a:lnTo>
                <a:lnTo>
                  <a:pt x="0" y="8830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3999"/>
              <a:t>METHODOLOGY</a:t>
            </a:r>
            <a:endParaRPr/>
          </a:p>
        </p:txBody>
      </p:sp>
      <p:sp>
        <p:nvSpPr>
          <p:cNvPr id="144" name="Google Shape;144;p2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3"/>
              <a:buFont typeface="Arial"/>
              <a:buNone/>
            </a:pPr>
            <a:r>
              <a:rPr b="1" lang="en">
                <a:solidFill>
                  <a:srgbClr val="504C44"/>
                </a:solidFill>
              </a:rPr>
              <a:t>Abnormal and Cumulative Abnormal Returns (CAR)</a:t>
            </a:r>
            <a:endParaRPr>
              <a:solidFill>
                <a:srgbClr val="000000"/>
              </a:solidFill>
            </a:endParaRPr>
          </a:p>
          <a:p>
            <a:pPr indent="-203200" lvl="1" marL="431801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04C44"/>
              </a:buClr>
              <a:buSzPts val="1800"/>
              <a:buFont typeface="Roboto"/>
              <a:buChar char="•"/>
            </a:pPr>
            <a:r>
              <a:rPr lang="en" sz="1800">
                <a:solidFill>
                  <a:srgbClr val="504C44"/>
                </a:solidFill>
              </a:rPr>
              <a:t>Abnormal Returns (AR): </a:t>
            </a:r>
            <a:endParaRPr sz="1800">
              <a:solidFill>
                <a:srgbClr val="000000"/>
              </a:solidFill>
            </a:endParaRPr>
          </a:p>
          <a:p>
            <a:pPr indent="-203200" lvl="1" marL="431801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04C44"/>
              </a:buClr>
              <a:buSzPts val="1800"/>
              <a:buFont typeface="Roboto"/>
              <a:buChar char="•"/>
            </a:pPr>
            <a:r>
              <a:rPr lang="en" sz="1800">
                <a:solidFill>
                  <a:srgbClr val="504C44"/>
                </a:solidFill>
              </a:rPr>
              <a:t>Cumulative Abnormal Returns (CAR): The sum of abnormal returns over the event window to determine if the CHIPS Act announcement significantly impacted Intel’s stock</a:t>
            </a:r>
            <a:endParaRPr sz="1800"/>
          </a:p>
        </p:txBody>
      </p:sp>
      <p:sp>
        <p:nvSpPr>
          <p:cNvPr id="145" name="Google Shape;145;p21"/>
          <p:cNvSpPr/>
          <p:nvPr/>
        </p:nvSpPr>
        <p:spPr>
          <a:xfrm>
            <a:off x="2657966" y="3304650"/>
            <a:ext cx="2608868" cy="1124925"/>
          </a:xfrm>
          <a:custGeom>
            <a:rect b="b" l="l" r="r" t="t"/>
            <a:pathLst>
              <a:path extrusionOk="0" h="1499900" w="3478491">
                <a:moveTo>
                  <a:pt x="0" y="0"/>
                </a:moveTo>
                <a:lnTo>
                  <a:pt x="3478491" y="0"/>
                </a:lnTo>
                <a:lnTo>
                  <a:pt x="3478491" y="1499900"/>
                </a:lnTo>
                <a:lnTo>
                  <a:pt x="0" y="14999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3999"/>
              <a:t>STATIONARITY TEST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51" name="Google Shape;151;p22"/>
          <p:cNvGraphicFramePr/>
          <p:nvPr/>
        </p:nvGraphicFramePr>
        <p:xfrm>
          <a:off x="2123813" y="141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{29BE0B8A-A2F5-41BE-ACA7-0FEC5C3F13C9}</a:tableStyleId>
              </a:tblPr>
              <a:tblGrid>
                <a:gridCol w="1578650"/>
                <a:gridCol w="1578650"/>
                <a:gridCol w="1578650"/>
              </a:tblGrid>
              <a:tr h="249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Company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ADF Statistic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P-Value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SolAero (Rocket Lab)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-12.2972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HP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-11.8437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Entegris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11.5146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Intel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-10.4025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Polar Power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-12.707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Microchip Technology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-11.7747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Amkor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-10.987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GlobalFoundries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-10.7816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Wolf Speed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-10.6045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Texas Instruments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-10.265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TSMC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-11.1843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3999"/>
              <a:t>NORMALITY TEST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57" name="Google Shape;157;p23"/>
          <p:cNvGraphicFramePr/>
          <p:nvPr/>
        </p:nvGraphicFramePr>
        <p:xfrm>
          <a:off x="1950025" y="1416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{29BE0B8A-A2F5-41BE-ACA7-0FEC5C3F13C9}</a:tableStyleId>
              </a:tblPr>
              <a:tblGrid>
                <a:gridCol w="1628725"/>
                <a:gridCol w="1628725"/>
                <a:gridCol w="1638950"/>
              </a:tblGrid>
              <a:tr h="206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Company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 Statistic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P-value</a:t>
                      </a:r>
                      <a:endParaRPr b="1"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6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SolAero (Rocket Lab)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0.9311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2.08E-09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6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HP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0.8219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3.10E-16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6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Entegris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0.9942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4.45E-01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6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Intel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0.96141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2.99E-06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6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Polar Power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0.8575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8.58E-01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6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Microchip Technology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0.99585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0.7454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6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Amkor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0.89238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2.37E-12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6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GlobalFoundries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0.99157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0.1615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6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Wolf Speed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0.97147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6.57E-05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6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Texas Instruments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0.9528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3.05E-07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6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TSMC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0.9145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8.94E-11</a:t>
                      </a:r>
                      <a:endParaRPr sz="12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25400" marB="25400" marR="25400" marL="25400" anchor="b">
                    <a:lnL cap="flat" cmpd="sng" w="28575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50"/>
              <a:t>Regression Results</a:t>
            </a:r>
            <a:endParaRPr b="1" sz="3550"/>
          </a:p>
        </p:txBody>
      </p:sp>
      <p:graphicFrame>
        <p:nvGraphicFramePr>
          <p:cNvPr id="163" name="Google Shape;163;p24"/>
          <p:cNvGraphicFramePr/>
          <p:nvPr/>
        </p:nvGraphicFramePr>
        <p:xfrm>
          <a:off x="866500" y="1425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{917FDE7E-CB48-42A3-820B-FC3515AF16B1}</a:tableStyleId>
              </a:tblPr>
              <a:tblGrid>
                <a:gridCol w="952500"/>
                <a:gridCol w="1035300"/>
                <a:gridCol w="869700"/>
                <a:gridCol w="952500"/>
                <a:gridCol w="952500"/>
                <a:gridCol w="952500"/>
                <a:gridCol w="9525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Company Size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Company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Coefficients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P-Value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 Statistic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Standard Error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Large Cap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HP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Intercept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0.000188638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0.867213989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0.167379749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0.001127003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Slope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0.318949724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1.70E-08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5.84164306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0.054599317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Large Cap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Entegris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Intercept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-0.0009891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0.222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-1.223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0.0008085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Slope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1.0793575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&lt;2e-16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23.338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0.0462492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Large Cap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Intel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Intercept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0.0003073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0.817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0.232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0.0013238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85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Slope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0.7956477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&lt;2e-16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10.589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0.0751384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Large Cap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Microchip Technology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Intercept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-0.00075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3.43E-01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-0.95085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0.000787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Slope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0.943346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6.40E-58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21.59966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0.043674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Large Cap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GlobalFoundries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Intercept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-0.00241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1.37E-02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-2.48346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0.000972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Slope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1.035158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1.80E-47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18.37274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0.056342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Large Cap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Wolf Speed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Intercept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-0.00635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0.03495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-2.12113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0.002994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Slope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1.345928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1.21E-19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9.926852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0.135585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Large Cap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Texas Instruments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Intercept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0.00012150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0.177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0.0006864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Slope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0.5468219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&lt;2e-16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16.153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0.0338517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4" name="Google Shape;164;p24"/>
          <p:cNvSpPr txBox="1"/>
          <p:nvPr>
            <p:ph type="title"/>
          </p:nvPr>
        </p:nvSpPr>
        <p:spPr>
          <a:xfrm>
            <a:off x="807900" y="4626675"/>
            <a:ext cx="6220200" cy="3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i="1" lang="en" sz="999">
                <a:solidFill>
                  <a:srgbClr val="504C44"/>
                </a:solidFill>
              </a:rPr>
              <a:t>Source: Data retrieved from Nasdaq, Computed on R</a:t>
            </a:r>
            <a:endParaRPr i="1" sz="100"/>
          </a:p>
        </p:txBody>
      </p:sp>
      <p:sp>
        <p:nvSpPr>
          <p:cNvPr id="165" name="Google Shape;165;p24"/>
          <p:cNvSpPr txBox="1"/>
          <p:nvPr/>
        </p:nvSpPr>
        <p:spPr>
          <a:xfrm>
            <a:off x="1045250" y="977925"/>
            <a:ext cx="6079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Table: Regression Results of the Large Cap Companies for the Estimation Period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50"/>
              <a:t>Regression Results Contd</a:t>
            </a:r>
            <a:endParaRPr b="1" sz="3550"/>
          </a:p>
        </p:txBody>
      </p:sp>
      <p:graphicFrame>
        <p:nvGraphicFramePr>
          <p:cNvPr id="171" name="Google Shape;171;p25"/>
          <p:cNvGraphicFramePr/>
          <p:nvPr/>
        </p:nvGraphicFramePr>
        <p:xfrm>
          <a:off x="597400" y="1880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{917FDE7E-CB48-42A3-820B-FC3515AF16B1}</a:tableStyleId>
              </a:tblPr>
              <a:tblGrid>
                <a:gridCol w="1466850"/>
                <a:gridCol w="1466850"/>
                <a:gridCol w="752475"/>
                <a:gridCol w="1123950"/>
                <a:gridCol w="952500"/>
                <a:gridCol w="952500"/>
                <a:gridCol w="9525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Company Size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Company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Coefficients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P-Value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 Statistic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Standard Error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Micro Cap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Polar Power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Intercept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-0.003375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0.346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-0.945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0.003573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Slope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0.120212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0.536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0.193775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Mid Cap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Amkor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Intercept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-0.906357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2.00E-16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0.010333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0.001219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Slope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0.096659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2.00E-16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15.45024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0.070184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Mid Cap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SolAero (Rocket Lab)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Intercept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-0.001685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0.494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-0.684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0.002462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Slope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0.680554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2.81E-06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4.8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0.141779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Mega Cap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TSMC</a:t>
                      </a:r>
                      <a:endParaRPr b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Intercept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0.0001922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0.832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0.213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0.0009038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Slope</a:t>
                      </a:r>
                      <a:endParaRPr i="1"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0.8677216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&lt;2e-16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17.038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0.0509273</a:t>
                      </a:r>
                      <a:endParaRPr sz="1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19050" marB="19050" marR="28575" marL="2857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2" name="Google Shape;172;p25"/>
          <p:cNvSpPr txBox="1"/>
          <p:nvPr>
            <p:ph type="title"/>
          </p:nvPr>
        </p:nvSpPr>
        <p:spPr>
          <a:xfrm>
            <a:off x="597400" y="3953975"/>
            <a:ext cx="6220200" cy="3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i="1" lang="en" sz="999">
                <a:solidFill>
                  <a:srgbClr val="504C44"/>
                </a:solidFill>
              </a:rPr>
              <a:t>Source: Data retrieved from Nasdaq, Computed on R</a:t>
            </a:r>
            <a:endParaRPr i="1" sz="100"/>
          </a:p>
        </p:txBody>
      </p:sp>
      <p:sp>
        <p:nvSpPr>
          <p:cNvPr id="173" name="Google Shape;173;p25"/>
          <p:cNvSpPr txBox="1"/>
          <p:nvPr/>
        </p:nvSpPr>
        <p:spPr>
          <a:xfrm>
            <a:off x="597400" y="1391875"/>
            <a:ext cx="7381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Times New Roman"/>
                <a:ea typeface="Times New Roman"/>
                <a:cs typeface="Times New Roman"/>
                <a:sym typeface="Times New Roman"/>
              </a:rPr>
              <a:t>Table: Regression Results of the Micro, Mid and Mega Cap Companies for the Estimation Period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3999"/>
              <a:t>Abnormal Returns for Event Window</a:t>
            </a:r>
            <a:endParaRPr/>
          </a:p>
        </p:txBody>
      </p:sp>
      <p:pic>
        <p:nvPicPr>
          <p:cNvPr id="179" name="Google Shape;17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200"/>
            <a:ext cx="8839201" cy="3520907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6"/>
          <p:cNvSpPr txBox="1"/>
          <p:nvPr>
            <p:ph type="title"/>
          </p:nvPr>
        </p:nvSpPr>
        <p:spPr>
          <a:xfrm>
            <a:off x="311700" y="4585050"/>
            <a:ext cx="7377600" cy="3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i="1" lang="en" sz="1099">
                <a:solidFill>
                  <a:srgbClr val="504C44"/>
                </a:solidFill>
              </a:rPr>
              <a:t>Source: Data retrieved from Nasdaq, Computed and visualized on R</a:t>
            </a:r>
            <a:endParaRPr i="1" sz="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>
            <p:ph idx="4294967295" type="title"/>
          </p:nvPr>
        </p:nvSpPr>
        <p:spPr>
          <a:xfrm>
            <a:off x="735263" y="112000"/>
            <a:ext cx="7377600" cy="3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1299">
                <a:solidFill>
                  <a:srgbClr val="504C44"/>
                </a:solidFill>
              </a:rPr>
              <a:t>Figure: Representation of Cumulative Abnormal Returns of Recipients across the Event Window</a:t>
            </a:r>
            <a:endParaRPr sz="100"/>
          </a:p>
        </p:txBody>
      </p:sp>
      <p:sp>
        <p:nvSpPr>
          <p:cNvPr id="186" name="Google Shape;186;p27"/>
          <p:cNvSpPr txBox="1"/>
          <p:nvPr>
            <p:ph idx="4294967295" type="title"/>
          </p:nvPr>
        </p:nvSpPr>
        <p:spPr>
          <a:xfrm>
            <a:off x="407675" y="4486175"/>
            <a:ext cx="7377600" cy="3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i="1" lang="en" sz="1099">
                <a:solidFill>
                  <a:srgbClr val="504C44"/>
                </a:solidFill>
              </a:rPr>
              <a:t>Source: Data retrieved from Nasdaq, Computed and </a:t>
            </a:r>
            <a:r>
              <a:rPr b="1" i="1" lang="en" sz="1099">
                <a:solidFill>
                  <a:srgbClr val="504C44"/>
                </a:solidFill>
              </a:rPr>
              <a:t>visualized</a:t>
            </a:r>
            <a:r>
              <a:rPr b="1" i="1" lang="en" sz="1099">
                <a:solidFill>
                  <a:srgbClr val="504C44"/>
                </a:solidFill>
              </a:rPr>
              <a:t> on R</a:t>
            </a:r>
            <a:endParaRPr i="1" sz="100"/>
          </a:p>
        </p:txBody>
      </p:sp>
      <p:pic>
        <p:nvPicPr>
          <p:cNvPr id="187" name="Google Shape;18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576" y="657325"/>
            <a:ext cx="6994975" cy="3828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/>
        </p:nvSpPr>
        <p:spPr>
          <a:xfrm>
            <a:off x="1473675" y="260175"/>
            <a:ext cx="5329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latin typeface="Times New Roman"/>
                <a:ea typeface="Times New Roman"/>
                <a:cs typeface="Times New Roman"/>
                <a:sym typeface="Times New Roman"/>
              </a:rPr>
              <a:t>Table: T Test Results of Cumulative Abnormal Returns</a:t>
            </a:r>
            <a:endParaRPr sz="1700"/>
          </a:p>
        </p:txBody>
      </p:sp>
      <p:sp>
        <p:nvSpPr>
          <p:cNvPr id="193" name="Google Shape;193;p28"/>
          <p:cNvSpPr txBox="1"/>
          <p:nvPr>
            <p:ph type="title"/>
          </p:nvPr>
        </p:nvSpPr>
        <p:spPr>
          <a:xfrm>
            <a:off x="703050" y="4677250"/>
            <a:ext cx="6220200" cy="3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i="1" lang="en" sz="999">
                <a:solidFill>
                  <a:srgbClr val="504C44"/>
                </a:solidFill>
              </a:rPr>
              <a:t>Source: Data retrieved from Nasdaq, Computed on R</a:t>
            </a:r>
            <a:endParaRPr i="1" sz="100"/>
          </a:p>
        </p:txBody>
      </p:sp>
      <p:graphicFrame>
        <p:nvGraphicFramePr>
          <p:cNvPr id="194" name="Google Shape;194;p28"/>
          <p:cNvGraphicFramePr/>
          <p:nvPr/>
        </p:nvGraphicFramePr>
        <p:xfrm>
          <a:off x="834775" y="798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{917FDE7E-CB48-42A3-820B-FC3515AF16B1}</a:tableStyleId>
              </a:tblPr>
              <a:tblGrid>
                <a:gridCol w="2588275"/>
                <a:gridCol w="1251475"/>
                <a:gridCol w="1251475"/>
                <a:gridCol w="1265725"/>
                <a:gridCol w="1265725"/>
              </a:tblGrid>
              <a:tr h="41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Company Name</a:t>
                      </a:r>
                      <a:endParaRPr b="1"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Mean CAR</a:t>
                      </a:r>
                      <a:endParaRPr b="1"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t_statistic</a:t>
                      </a:r>
                      <a:endParaRPr b="1"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p_value</a:t>
                      </a:r>
                      <a:endParaRPr b="1"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Incentive-size Ratio</a:t>
                      </a:r>
                      <a:endParaRPr b="1"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HP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0.03286909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7.57552692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1.89E-05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0.003683762729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Microchip Technologies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-0.0144589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-5.1067288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0.00045949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0.003141926977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GlobalFoundries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-0.0158974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-2.7855207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0.01926728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0.05376754824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Amkor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-0.0401819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-1.92235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0.08348403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0.0405261304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WolfSpeed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0.34579453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4.1197054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0.00207807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0.0201779072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Entegris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0.03250238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5.75801355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0.00018315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0.003683762729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Polar Power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0.24395047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7.26903004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2.70E-05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1.459148511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TSMC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0.05979437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10.3171862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1.19E-06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0.008483486794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Intel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0.01228195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14.6339211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4.43E-08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0.06363532437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Rocket Lab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0.01115652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1.09425264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0.2995006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0.01002851592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Texas Instruments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-0.0165194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-4.1289066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0.00204776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0.009016446668</a:t>
                      </a:r>
                      <a:endParaRPr sz="1200"/>
                    </a:p>
                  </a:txBody>
                  <a:tcPr marT="9525" marB="91425" marR="9525" marL="9525" anchor="b">
                    <a:lnL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9"/>
          <p:cNvSpPr txBox="1"/>
          <p:nvPr>
            <p:ph type="title"/>
          </p:nvPr>
        </p:nvSpPr>
        <p:spPr>
          <a:xfrm>
            <a:off x="311700" y="2504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3999">
                <a:latin typeface="Arial"/>
                <a:ea typeface="Arial"/>
                <a:cs typeface="Arial"/>
                <a:sym typeface="Arial"/>
              </a:rPr>
              <a:t>Risk-Incentive/Size Relationship</a:t>
            </a:r>
            <a:endParaRPr sz="1800"/>
          </a:p>
        </p:txBody>
      </p:sp>
      <p:sp>
        <p:nvSpPr>
          <p:cNvPr id="200" name="Google Shape;200;p29"/>
          <p:cNvSpPr txBox="1"/>
          <p:nvPr>
            <p:ph type="title"/>
          </p:nvPr>
        </p:nvSpPr>
        <p:spPr>
          <a:xfrm>
            <a:off x="738325" y="799525"/>
            <a:ext cx="7377600" cy="3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1299">
                <a:solidFill>
                  <a:srgbClr val="504C44"/>
                </a:solidFill>
              </a:rPr>
              <a:t>Figure: Representation of Beta Against Incentive-to-Market-Cap Ratio for CHIPS ACT Recipients</a:t>
            </a:r>
            <a:endParaRPr sz="100"/>
          </a:p>
        </p:txBody>
      </p:sp>
      <p:sp>
        <p:nvSpPr>
          <p:cNvPr id="201" name="Google Shape;201;p29"/>
          <p:cNvSpPr txBox="1"/>
          <p:nvPr>
            <p:ph type="title"/>
          </p:nvPr>
        </p:nvSpPr>
        <p:spPr>
          <a:xfrm>
            <a:off x="738325" y="4797025"/>
            <a:ext cx="7377600" cy="3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i="1" lang="en" sz="999">
                <a:solidFill>
                  <a:srgbClr val="504C44"/>
                </a:solidFill>
              </a:rPr>
              <a:t>Source: Data retrieved from Semiconductor Industry Association and Nasdaq, Computed and Visualized on R</a:t>
            </a:r>
            <a:endParaRPr i="1" sz="100"/>
          </a:p>
        </p:txBody>
      </p:sp>
      <p:pic>
        <p:nvPicPr>
          <p:cNvPr id="202" name="Google Shape;202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4113" y="1174225"/>
            <a:ext cx="5551063" cy="3377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/>
          <p:nvPr>
            <p:ph type="title"/>
          </p:nvPr>
        </p:nvSpPr>
        <p:spPr>
          <a:xfrm>
            <a:off x="76300" y="250025"/>
            <a:ext cx="91440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3550"/>
              <a:t>Average Return-Incentive/Size Relationship</a:t>
            </a:r>
            <a:endParaRPr sz="3550"/>
          </a:p>
        </p:txBody>
      </p:sp>
      <p:sp>
        <p:nvSpPr>
          <p:cNvPr id="208" name="Google Shape;208;p30"/>
          <p:cNvSpPr txBox="1"/>
          <p:nvPr>
            <p:ph type="title"/>
          </p:nvPr>
        </p:nvSpPr>
        <p:spPr>
          <a:xfrm>
            <a:off x="621625" y="799525"/>
            <a:ext cx="8214000" cy="3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1299">
                <a:solidFill>
                  <a:srgbClr val="504C44"/>
                </a:solidFill>
              </a:rPr>
              <a:t>Figure: Representation of Estimated Alpha Against Incentive-to-Market Cap Ratio for CHIPS ACT Recipients</a:t>
            </a:r>
            <a:endParaRPr sz="100"/>
          </a:p>
        </p:txBody>
      </p:sp>
      <p:sp>
        <p:nvSpPr>
          <p:cNvPr id="209" name="Google Shape;209;p30"/>
          <p:cNvSpPr txBox="1"/>
          <p:nvPr>
            <p:ph type="title"/>
          </p:nvPr>
        </p:nvSpPr>
        <p:spPr>
          <a:xfrm>
            <a:off x="621625" y="4797025"/>
            <a:ext cx="7377600" cy="3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i="1" lang="en" sz="999">
                <a:solidFill>
                  <a:srgbClr val="504C44"/>
                </a:solidFill>
              </a:rPr>
              <a:t>Source: Data retrieved from Semiconductor Industry Association and Nasdaq, Computed and Visualized on R</a:t>
            </a:r>
            <a:endParaRPr i="1" sz="100"/>
          </a:p>
        </p:txBody>
      </p:sp>
      <p:pic>
        <p:nvPicPr>
          <p:cNvPr id="210" name="Google Shape;21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325" y="1168425"/>
            <a:ext cx="7225902" cy="345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3999"/>
              <a:t>CONCLUSION</a:t>
            </a:r>
            <a:endParaRPr sz="1800"/>
          </a:p>
        </p:txBody>
      </p:sp>
      <p:sp>
        <p:nvSpPr>
          <p:cNvPr id="216" name="Google Shape;216;p31"/>
          <p:cNvSpPr txBox="1"/>
          <p:nvPr>
            <p:ph idx="1" type="body"/>
          </p:nvPr>
        </p:nvSpPr>
        <p:spPr>
          <a:xfrm>
            <a:off x="311700" y="11536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statistically significant change in daily returns for most companies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Variation between positive and negative CAR’s across companies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Potential positive correlation between grant size and risk factor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 direct evidence of small companies </a:t>
            </a:r>
            <a:r>
              <a:rPr lang="en"/>
              <a:t>benefiting</a:t>
            </a:r>
            <a:r>
              <a:rPr lang="en"/>
              <a:t> more from grants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⅔ small companies saw jump from negative to positive returns after grants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Future work: study effects of CHIPS Act on economic growt</a:t>
            </a:r>
            <a:r>
              <a:rPr lang="en"/>
              <a:t>h </a:t>
            </a:r>
            <a:r>
              <a:rPr lang="en"/>
              <a:t>and innovation once government funds fully disperse after 2026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" sz="3999"/>
              <a:t>WORKS CITED</a:t>
            </a:r>
            <a:endParaRPr sz="1800"/>
          </a:p>
        </p:txBody>
      </p:sp>
      <p:sp>
        <p:nvSpPr>
          <p:cNvPr id="222" name="Google Shape;222;p32"/>
          <p:cNvSpPr txBox="1"/>
          <p:nvPr>
            <p:ph idx="1" type="body"/>
          </p:nvPr>
        </p:nvSpPr>
        <p:spPr>
          <a:xfrm>
            <a:off x="311700" y="1153675"/>
            <a:ext cx="4260300" cy="373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440"/>
              <a:buNone/>
            </a:pPr>
            <a:r>
              <a:rPr lang="en" sz="4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Adilov, N., Haber, L.J., &amp; Fiechter, N. (2009). Policy Announcements and Stock Market Response.</a:t>
            </a:r>
            <a:endParaRPr sz="48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4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Beechey, M.J., Gruen, D.W., &amp; Vickery, J.I. (2000).The Efficient Market Hypothesis: A Survey.</a:t>
            </a:r>
            <a:endParaRPr sz="48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4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Brown, S. J., &amp; Warner, J. B. (1985). Using daily stock returns: The case of event studies.Journal of Financial Economics, 14(1), 3-31. https://doi.org/10.1016/0304-405X(85)90042-X.</a:t>
            </a:r>
            <a:endParaRPr sz="48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4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Casarin, A. A., Dorobantu, S., &amp; Saz-Carranza, A. (2021). NATIONALISM, FIRM VALUE AND RELOCATION. Academy of Management.</a:t>
            </a:r>
            <a:endParaRPr sz="48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4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Chen, Y., Wang, Y., Hu, D., &amp; Zhou, Z. (2020). Government R&amp;D subsidies, information asymmetry, and the role of foreign investors: Evidence from a quasi-natural experiment on the shanghai-hong kong stock connect. Technological Forecasting and Social Change, 158, 120162.</a:t>
            </a:r>
            <a:endParaRPr sz="48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4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Criscuolo, C., Martin, R., Overman, H.G., &amp; Reenen, J.V. (2019). Some Causal Effects of an Industrial Policy.American Economic Review.</a:t>
            </a:r>
            <a:endParaRPr sz="48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4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Dixon, J.M., &amp; Nassios, J. (2018). The Effectiveness of Investment Stimulus Policies in Australia.</a:t>
            </a:r>
            <a:endParaRPr sz="48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4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Driffield, N. (2001). THE IMPACT ON DOMESTIC PRODUCTIVITY OF INWARD INVESTMENT IN THE UK. The Manchester School, 69(1).</a:t>
            </a:r>
            <a:endParaRPr sz="48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4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Gui-ru, H., Shuli, Z., Zhiyuan, L., &amp; Guang-hui, J. (2021). Industrial Policies, Investor Sentiment and Enterprise Resource Allocation Efficiency. Journal of Finance and Economics, 47, 77-93.</a:t>
            </a:r>
            <a:endParaRPr sz="48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4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H.R.4346 - 117th Congress (2021-2022): Supreme Court Security Funding Act of 2022 | congress.govlibrary of Congress. https://www.congress.gov/bill/117th-congress/house-bill/4346.</a:t>
            </a:r>
            <a:endParaRPr sz="48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4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Intelligence, fDi.The world’s top semiconductor investors. fDi Intelligence – Your source for foreign direct investment information - https://www.fdiintelligence.com/content/data-trends/the-worlds-top-semiconductor-investors-82433.</a:t>
            </a:r>
            <a:endParaRPr sz="48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4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Katitas, A., &amp; Pandya, S. (2024). Investment incentives attract foreign direct investment: Evidence from the great recession. Public Choice. </a:t>
            </a:r>
            <a:r>
              <a:rPr lang="en" sz="48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https://doi.org/10.1007/s11127-024-01158-0</a:t>
            </a:r>
            <a:r>
              <a:rPr lang="en" sz="4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48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en" sz="4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Kim, H. M., &amp; Han, S. S. (2014). Inward foreign direct investment in Korea: Location Patterns and local impacts. Habitat International, 44, 146–157. </a:t>
            </a:r>
            <a:r>
              <a:rPr lang="en" sz="48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https://doi.org/10.1016/j.habitatint.2014.05.011</a:t>
            </a:r>
            <a:r>
              <a:rPr lang="en" sz="4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48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rPr lang="en" sz="48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Liu, X., Megginson, W.L., &amp; Xia, J. (2022). Industrial Policy and Asset Prices: Evidence from the Made in China 2025 Policy. Journal of Banking &amp; Finance.</a:t>
            </a:r>
            <a:endParaRPr sz="48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32"/>
          <p:cNvSpPr txBox="1"/>
          <p:nvPr>
            <p:ph idx="1" type="body"/>
          </p:nvPr>
        </p:nvSpPr>
        <p:spPr>
          <a:xfrm>
            <a:off x="4572000" y="1153675"/>
            <a:ext cx="42603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Malkiel, B.G. (2003). The Efficient Market Hypothesis and Its Critics. Journal of Economic Perspectives, 17(1), 59-82.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Mazewski, M., &amp; Flores, C. (2022, May). Economic impacts of the Chips for America Act. Data for Progress. https://www.filesforprogress.org/memos/USICA_Semiconductors.pdf.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Raimondo, G. (2023, September 19). </a:t>
            </a:r>
            <a:r>
              <a:rPr i="1"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Testimony of Secretary of Commerce Gina Raimondo before the House Committee on Science, Space, and Technology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U.S. House of Representatives. https://docs.house.gov/meetings/SY/SY00/20230919/116375/HHRG-118-SY00-Wstate-RaimondoG-20230919.pdf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Ravi, S. (2023, July 27). The state of the industry report highlights challenges and opportunities facing U.S. chip industry. Semiconductor Industry Association. https://www.semiconductors.org/the-state-of-the-industry-report-highlights-challenges-and-opportunities-facing-u-s-chip-industry/.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Shi, F., Xu, H., Hsu, W.-L., Lee, Y.-C., &amp; Zhu, J. (2021). Spatial pattern and influencing factors of outward foreign direct investment enterprises in the Yangtze River Economic Belt of China. Information, 12(9), 381. https://doi.org/10.3390/info12090381.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Stephen J. Brown, Jerold B. Warner, Using daily stock returns: The case of event studies, Journal of Financial Economics, Volume 14, Issue 1, 1985, Pages 3-31, ISSN 0304-405X, https://doi.org/10.1016/0304-405X(85)90042-X.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Economist Newspaper. (n.d.). “Chip war” traces the evolution of the semiconductor industry. The Economist. https://www.economist.com/culture/2022/10/13/chip-war-traces-the-evolution-of-the-semiconductor-industry.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VERONESI, P., &amp; PÁSTOR, L. (2012). Uncertainty about Government Policy and Stock Prices. The Journal of American Finance Association, 67(4).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Xinle, T., Zhen, W., &amp; Xinting, L. (2021). The influence of government subsidy on enterprise innovation: based on Chinese high-tech enterprises. Economic Research-Ekonomska Istraživanja, 35(1), 1481–1499. https://doi.org/10.1080/1331677X.2021.1972818.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